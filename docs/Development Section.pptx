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9144000"/>
  <p:notesSz cx="6858000" cy="9144000"/>
  <p:embeddedFontLst>
    <p:embeddedFont>
      <p:font typeface="Roboto Serif"/>
      <p:regular r:id="rId10"/>
      <p:bold r:id="rId11"/>
      <p:italic r:id="rId12"/>
      <p:boldItalic r:id="rId13"/>
    </p:embeddedFont>
    <p:embeddedFont>
      <p:font typeface="Century Gothic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Serif-bold.fntdata"/><Relationship Id="rId10" Type="http://schemas.openxmlformats.org/officeDocument/2006/relationships/font" Target="fonts/RobotoSerif-regular.fntdata"/><Relationship Id="rId13" Type="http://schemas.openxmlformats.org/officeDocument/2006/relationships/font" Target="fonts/RobotoSerif-boldItalic.fntdata"/><Relationship Id="rId12" Type="http://schemas.openxmlformats.org/officeDocument/2006/relationships/font" Target="fonts/RobotoSerif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CenturyGothic-bold.fntdata"/><Relationship Id="rId14" Type="http://schemas.openxmlformats.org/officeDocument/2006/relationships/font" Target="fonts/CenturyGothic-regular.fntdata"/><Relationship Id="rId17" Type="http://schemas.openxmlformats.org/officeDocument/2006/relationships/font" Target="fonts/CenturyGothic-boldItalic.fntdata"/><Relationship Id="rId16" Type="http://schemas.openxmlformats.org/officeDocument/2006/relationships/font" Target="fonts/CenturyGothic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79a951141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g379a9511419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9a95114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79a951141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beef3a3f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g38beef3a3ff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0e7ecb6c4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f0e7ecb6c4_1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beef3a3ff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38beef3a3ff_0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7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0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10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1413900" y="14500"/>
            <a:ext cx="7692300" cy="863400"/>
          </a:xfrm>
          <a:prstGeom prst="round2DiagRect">
            <a:avLst>
              <a:gd fmla="val 3253" name="adj1"/>
              <a:gd fmla="val 45459" name="adj2"/>
            </a:avLst>
          </a:prstGeom>
          <a:solidFill>
            <a:srgbClr val="073763"/>
          </a:solidFill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44450" algn="ctr" dir="5400000" dist="27940">
              <a:srgbClr val="000000">
                <a:alpha val="2941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KS5 Computer Science</a:t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1"/>
          <p:cNvSpPr txBox="1"/>
          <p:nvPr/>
        </p:nvSpPr>
        <p:spPr>
          <a:xfrm>
            <a:off x="3070200" y="1475313"/>
            <a:ext cx="87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8100" y="-12"/>
            <a:ext cx="1333500" cy="15335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isaaccomputerscience.org/concepts/prog_cwk_developing_ocr?topic=software_projec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/>
        </p:nvSpPr>
        <p:spPr>
          <a:xfrm>
            <a:off x="1219200" y="914881"/>
            <a:ext cx="79248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-US" sz="3700" u="none" cap="none" strike="noStrike">
                <a:solidFill>
                  <a:srgbClr val="A61C00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b="1" lang="en-US" sz="3700">
                <a:solidFill>
                  <a:srgbClr val="A61C00"/>
                </a:solidFill>
                <a:latin typeface="Roboto Serif"/>
                <a:ea typeface="Roboto Serif"/>
                <a:cs typeface="Roboto Serif"/>
                <a:sym typeface="Roboto Serif"/>
              </a:rPr>
              <a:t>Development Phase</a:t>
            </a:r>
            <a:endParaRPr b="0" i="0" sz="3700" u="none" cap="none" strike="noStrike">
              <a:solidFill>
                <a:srgbClr val="A61C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83" name="Google Shape;8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643" y="1734944"/>
            <a:ext cx="8144275" cy="5132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/>
        </p:nvSpPr>
        <p:spPr>
          <a:xfrm>
            <a:off x="1082125" y="2000586"/>
            <a:ext cx="79248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9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1219200" y="990600"/>
            <a:ext cx="7924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A61C00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b="1" lang="en-US" sz="4000">
                <a:solidFill>
                  <a:srgbClr val="A61C00"/>
                </a:solidFill>
                <a:latin typeface="Roboto Serif"/>
                <a:ea typeface="Roboto Serif"/>
                <a:cs typeface="Roboto Serif"/>
                <a:sym typeface="Roboto Serif"/>
              </a:rPr>
              <a:t>Development</a:t>
            </a:r>
            <a:endParaRPr b="0" i="0" sz="4000" u="none" cap="none" strike="noStrike">
              <a:solidFill>
                <a:srgbClr val="A61C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207325" y="2908000"/>
            <a:ext cx="8885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FF"/>
                </a:solidFill>
              </a:rPr>
              <a:t>BUILD → EXPLAIN → JUSTIFY → TEST → IDENTIFY A PROBLEM → CHANGE → RETEST </a:t>
            </a:r>
            <a:endParaRPr b="1" sz="1600">
              <a:solidFill>
                <a:srgbClr val="0000FF"/>
              </a:solidFill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1340900" y="4256950"/>
            <a:ext cx="7008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u="sng">
                <a:solidFill>
                  <a:schemeClr val="hlink"/>
                </a:solidFill>
                <a:hlinkClick r:id="rId3"/>
              </a:rPr>
              <a:t>Developing the coded solution (OCR) — Isaac Computer Science</a:t>
            </a:r>
            <a:r>
              <a:rPr lang="en-US" sz="1700">
                <a:solidFill>
                  <a:schemeClr val="dk1"/>
                </a:solidFill>
              </a:rPr>
              <a:t> 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/>
        </p:nvSpPr>
        <p:spPr>
          <a:xfrm>
            <a:off x="395536" y="1527175"/>
            <a:ext cx="842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3038" lvl="0" marL="173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suggested layout for this section of the NEA report would be: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611560" y="1955160"/>
            <a:ext cx="8064900" cy="1977900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38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Prototype/Iteration 1 of Module X of your solution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code should be fully annotated (#comments).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should be clear how the evidence links to your solution’s structure i.e. top down module 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should be clear which requirement/s the given code is trying to address.  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611560" y="4005064"/>
            <a:ext cx="5976600" cy="1440300"/>
          </a:xfrm>
          <a:prstGeom prst="rect">
            <a:avLst/>
          </a:prstGeom>
          <a:gradFill>
            <a:gsLst>
              <a:gs pos="0">
                <a:srgbClr val="FFA09D"/>
              </a:gs>
              <a:gs pos="35000">
                <a:srgbClr val="FFBCBC"/>
              </a:gs>
              <a:gs pos="100000">
                <a:srgbClr val="FFE2E2"/>
              </a:gs>
            </a:gsLst>
            <a:lin ang="16200038" scaled="0"/>
          </a:gradFill>
          <a:ln cap="flat" cmpd="sng" w="9525">
            <a:solidFill>
              <a:srgbClr val="BD4B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Iterative Testing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module should then be tested.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should include your test plan for that module from your design section.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results of testing should be clearly shown and discussed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failed tests should be highlighted ready for remedial action.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611560" y="5511480"/>
            <a:ext cx="5976600" cy="1086000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38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Prototype/Iteration 2 of Module X of your solution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above but highlight any remedial action taken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6732240" y="4005064"/>
            <a:ext cx="72000" cy="2592300"/>
          </a:xfrm>
          <a:prstGeom prst="rightBracket">
            <a:avLst>
              <a:gd fmla="val 8333" name="adj"/>
            </a:avLst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6948264" y="4221088"/>
            <a:ext cx="1800300" cy="2274600"/>
          </a:xfrm>
          <a:prstGeom prst="rect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38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Repeat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stages should be repeated until the requirement are met and the module is fully functional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1219200" y="914881"/>
            <a:ext cx="7924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A61C00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b="1" lang="en-US" sz="4000">
                <a:solidFill>
                  <a:srgbClr val="A61C00"/>
                </a:solidFill>
                <a:latin typeface="Roboto Serif"/>
                <a:ea typeface="Roboto Serif"/>
                <a:cs typeface="Roboto Serif"/>
                <a:sym typeface="Roboto Serif"/>
              </a:rPr>
              <a:t>Development Structure</a:t>
            </a:r>
            <a:endParaRPr b="0" i="0" sz="4000" u="none" cap="none" strike="noStrike">
              <a:solidFill>
                <a:srgbClr val="A61C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/>
          <p:nvPr/>
        </p:nvSpPr>
        <p:spPr>
          <a:xfrm>
            <a:off x="611550" y="1748648"/>
            <a:ext cx="8064900" cy="552900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38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- User Management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1219200" y="914881"/>
            <a:ext cx="7924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A61C00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b="1" lang="en-US" sz="4000">
                <a:solidFill>
                  <a:srgbClr val="A61C00"/>
                </a:solidFill>
                <a:latin typeface="Roboto Serif"/>
                <a:ea typeface="Roboto Serif"/>
                <a:cs typeface="Roboto Serif"/>
                <a:sym typeface="Roboto Serif"/>
              </a:rPr>
              <a:t>Development Structure</a:t>
            </a:r>
            <a:endParaRPr b="0" i="0" sz="4000" u="none" cap="none" strike="noStrike">
              <a:solidFill>
                <a:srgbClr val="A61C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109" name="Google Shape;10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550" y="2334120"/>
            <a:ext cx="8064900" cy="136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550" y="4928200"/>
            <a:ext cx="8064900" cy="61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763" y="5525587"/>
            <a:ext cx="7876475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5625" y="4127227"/>
            <a:ext cx="7824625" cy="73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/>
          <p:nvPr/>
        </p:nvSpPr>
        <p:spPr>
          <a:xfrm>
            <a:off x="685625" y="3624902"/>
            <a:ext cx="8064900" cy="457500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38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Iterative Testing 1 with Prototype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34468" y="4109391"/>
            <a:ext cx="673956" cy="87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/>
        </p:nvSpPr>
        <p:spPr>
          <a:xfrm>
            <a:off x="359690" y="1549686"/>
            <a:ext cx="8424900" cy="52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3038" lvl="0" marL="173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Further consideration needs to be given to your solution’s code evidence: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solution should be well structured i.e. module in nature (use functions &amp; procedures/classes).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 should be fully annotated i.e. a self-documenting program with clear consideration of future maintenance.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identifiers (variables/functions/procedures/data structures) should be appropriately named.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separate section which provides evidence of the solution’s validation routines should be present.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modules of your coded solution should be clearly laid out i.e. blocked with indentation (where required). 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1219200" y="914881"/>
            <a:ext cx="7924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A61C00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b="1" lang="en-US" sz="4000">
                <a:solidFill>
                  <a:srgbClr val="A61C00"/>
                </a:solidFill>
                <a:latin typeface="Roboto Serif"/>
                <a:ea typeface="Roboto Serif"/>
                <a:cs typeface="Roboto Serif"/>
                <a:sym typeface="Roboto Serif"/>
              </a:rPr>
              <a:t>Development Structure</a:t>
            </a:r>
            <a:endParaRPr b="0" i="0" sz="4000" u="none" cap="none" strike="noStrike">
              <a:solidFill>
                <a:srgbClr val="A61C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