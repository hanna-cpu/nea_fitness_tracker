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6858000" cx="9144000"/>
  <p:notesSz cx="6858000" cy="9144000"/>
  <p:embeddedFontLst>
    <p:embeddedFont>
      <p:font typeface="Roboto Serif"/>
      <p:regular r:id="rId10"/>
      <p:bold r:id="rId11"/>
      <p:italic r:id="rId12"/>
      <p:boldItalic r:id="rId13"/>
    </p:embeddedFont>
    <p:embeddedFont>
      <p:font typeface="Century Gothic"/>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CF3430-EBC7-4088-8BE4-12CE2D3A33C6}">
  <a:tblStyle styleId="{4ECF3430-EBC7-4088-8BE4-12CE2D3A33C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6C158C0-A0F9-4FD2-BC30-6FDFF8C278A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font" Target="fonts/RobotoSerif-bold.fntdata"/><Relationship Id="rId10" Type="http://schemas.openxmlformats.org/officeDocument/2006/relationships/font" Target="fonts/RobotoSerif-regular.fntdata"/><Relationship Id="rId13" Type="http://schemas.openxmlformats.org/officeDocument/2006/relationships/font" Target="fonts/RobotoSerif-boldItalic.fntdata"/><Relationship Id="rId12" Type="http://schemas.openxmlformats.org/officeDocument/2006/relationships/font" Target="fonts/RobotoSerif-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enturyGothic-bold.fntdata"/><Relationship Id="rId14" Type="http://schemas.openxmlformats.org/officeDocument/2006/relationships/font" Target="fonts/CenturyGothic-regular.fntdata"/><Relationship Id="rId17" Type="http://schemas.openxmlformats.org/officeDocument/2006/relationships/font" Target="fonts/CenturyGothic-boldItalic.fntdata"/><Relationship Id="rId16"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9a9511419_0_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g379a9511419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9a9511419_0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g379a951141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ca843d42c_0_4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7ca843d42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001168f84_0_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g3f001168f84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85800" y="1122363"/>
            <a:ext cx="7772400" cy="2387600"/>
          </a:xfrm>
          <a:prstGeom prst="rect">
            <a:avLst/>
          </a:prstGeom>
          <a:noFill/>
          <a:ln>
            <a:noFill/>
          </a:ln>
        </p:spPr>
        <p:txBody>
          <a:bodyPr anchorCtr="0" anchor="b" bIns="91425" lIns="91425" spcFirstLastPara="1" rIns="91425" wrap="square" tIns="91425">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subTitle"/>
          </p:nvPr>
        </p:nvSpPr>
        <p:spPr>
          <a:xfrm>
            <a:off x="1143000" y="3602038"/>
            <a:ext cx="6858000" cy="1655762"/>
          </a:xfrm>
          <a:prstGeom prst="rect">
            <a:avLst/>
          </a:prstGeom>
          <a:noFill/>
          <a:ln>
            <a:noFill/>
          </a:ln>
        </p:spPr>
        <p:txBody>
          <a:bodyPr anchorCtr="0" anchor="t" bIns="91425" lIns="91425" spcFirstLastPara="1" rIns="91425" wrap="square" tIns="91425">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628650" y="365126"/>
            <a:ext cx="7886700" cy="1325563"/>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 name="Google Shape;21;p4"/>
          <p:cNvSpPr txBox="1"/>
          <p:nvPr>
            <p:ph idx="1" type="body"/>
          </p:nvPr>
        </p:nvSpPr>
        <p:spPr>
          <a:xfrm>
            <a:off x="628650" y="1825625"/>
            <a:ext cx="78867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4"/>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
          <p:cNvSpPr txBox="1"/>
          <p:nvPr>
            <p:ph type="title"/>
          </p:nvPr>
        </p:nvSpPr>
        <p:spPr>
          <a:xfrm>
            <a:off x="623888" y="1709739"/>
            <a:ext cx="7886700" cy="2852737"/>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5"/>
          <p:cNvSpPr txBox="1"/>
          <p:nvPr>
            <p:ph idx="1" type="body"/>
          </p:nvPr>
        </p:nvSpPr>
        <p:spPr>
          <a:xfrm>
            <a:off x="623888" y="4589464"/>
            <a:ext cx="7886700" cy="150018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28" name="Google Shape;28;p5"/>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5"/>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6"/>
          <p:cNvSpPr txBox="1"/>
          <p:nvPr>
            <p:ph type="title"/>
          </p:nvPr>
        </p:nvSpPr>
        <p:spPr>
          <a:xfrm>
            <a:off x="628650" y="365126"/>
            <a:ext cx="7886700" cy="1325563"/>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6"/>
          <p:cNvSpPr txBox="1"/>
          <p:nvPr>
            <p:ph idx="1" type="body"/>
          </p:nvPr>
        </p:nvSpPr>
        <p:spPr>
          <a:xfrm>
            <a:off x="628650" y="1825625"/>
            <a:ext cx="38862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6"/>
          <p:cNvSpPr txBox="1"/>
          <p:nvPr>
            <p:ph idx="2" type="body"/>
          </p:nvPr>
        </p:nvSpPr>
        <p:spPr>
          <a:xfrm>
            <a:off x="4629150" y="1825625"/>
            <a:ext cx="3886200" cy="435133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6"/>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6"/>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6"/>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7"/>
          <p:cNvSpPr txBox="1"/>
          <p:nvPr>
            <p:ph type="title"/>
          </p:nvPr>
        </p:nvSpPr>
        <p:spPr>
          <a:xfrm>
            <a:off x="629841" y="365126"/>
            <a:ext cx="7886700" cy="1325563"/>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Google Shape;40;p7"/>
          <p:cNvSpPr txBox="1"/>
          <p:nvPr>
            <p:ph idx="1" type="body"/>
          </p:nvPr>
        </p:nvSpPr>
        <p:spPr>
          <a:xfrm>
            <a:off x="629842" y="1681163"/>
            <a:ext cx="3868340" cy="82391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7"/>
          <p:cNvSpPr txBox="1"/>
          <p:nvPr>
            <p:ph idx="2" type="body"/>
          </p:nvPr>
        </p:nvSpPr>
        <p:spPr>
          <a:xfrm>
            <a:off x="629842" y="2505075"/>
            <a:ext cx="3868340" cy="368458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7"/>
          <p:cNvSpPr txBox="1"/>
          <p:nvPr>
            <p:ph idx="3" type="body"/>
          </p:nvPr>
        </p:nvSpPr>
        <p:spPr>
          <a:xfrm>
            <a:off x="4629150" y="1681163"/>
            <a:ext cx="3887391" cy="82391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3" name="Google Shape;43;p7"/>
          <p:cNvSpPr txBox="1"/>
          <p:nvPr>
            <p:ph idx="4" type="body"/>
          </p:nvPr>
        </p:nvSpPr>
        <p:spPr>
          <a:xfrm>
            <a:off x="4629150" y="2505075"/>
            <a:ext cx="3887391" cy="3684588"/>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6" name="Google Shape;46;p7"/>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8"/>
          <p:cNvSpPr txBox="1"/>
          <p:nvPr>
            <p:ph type="title"/>
          </p:nvPr>
        </p:nvSpPr>
        <p:spPr>
          <a:xfrm>
            <a:off x="628650" y="365126"/>
            <a:ext cx="7886700" cy="1325563"/>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8"/>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0" name="Google Shape;50;p8"/>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1" name="Google Shape;51;p8"/>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9"/>
          <p:cNvSpPr txBox="1"/>
          <p:nvPr>
            <p:ph type="title"/>
          </p:nvPr>
        </p:nvSpPr>
        <p:spPr>
          <a:xfrm>
            <a:off x="629841" y="457200"/>
            <a:ext cx="2949178" cy="1600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p9"/>
          <p:cNvSpPr txBox="1"/>
          <p:nvPr>
            <p:ph idx="1" type="body"/>
          </p:nvPr>
        </p:nvSpPr>
        <p:spPr>
          <a:xfrm>
            <a:off x="3887391" y="987426"/>
            <a:ext cx="4629150" cy="4873625"/>
          </a:xfrm>
          <a:prstGeom prst="rect">
            <a:avLst/>
          </a:prstGeom>
          <a:noFill/>
          <a:ln>
            <a:noFill/>
          </a:ln>
        </p:spPr>
        <p:txBody>
          <a:bodyPr anchorCtr="0" anchor="t" bIns="91425" lIns="91425" spcFirstLastPara="1" rIns="91425" wrap="square" tIns="91425">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5" name="Google Shape;55;p9"/>
          <p:cNvSpPr txBox="1"/>
          <p:nvPr>
            <p:ph idx="2" type="body"/>
          </p:nvPr>
        </p:nvSpPr>
        <p:spPr>
          <a:xfrm>
            <a:off x="629841" y="2057400"/>
            <a:ext cx="2949178" cy="381158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56" name="Google Shape;56;p9"/>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9"/>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9"/>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629841" y="457200"/>
            <a:ext cx="2949178" cy="16002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0"/>
          <p:cNvSpPr/>
          <p:nvPr>
            <p:ph idx="2" type="pic"/>
          </p:nvPr>
        </p:nvSpPr>
        <p:spPr>
          <a:xfrm>
            <a:off x="3887391" y="987426"/>
            <a:ext cx="4629150" cy="4873625"/>
          </a:xfrm>
          <a:prstGeom prst="rect">
            <a:avLst/>
          </a:prstGeom>
          <a:noFill/>
          <a:ln>
            <a:noFill/>
          </a:ln>
        </p:spPr>
      </p:sp>
      <p:sp>
        <p:nvSpPr>
          <p:cNvPr id="62" name="Google Shape;62;p10"/>
          <p:cNvSpPr txBox="1"/>
          <p:nvPr>
            <p:ph idx="1" type="body"/>
          </p:nvPr>
        </p:nvSpPr>
        <p:spPr>
          <a:xfrm>
            <a:off x="629841" y="2057400"/>
            <a:ext cx="2949178" cy="3811588"/>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3" name="Google Shape;63;p10"/>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4" name="Google Shape;64;p10"/>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5" name="Google Shape;65;p10"/>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1"/>
          <p:cNvSpPr txBox="1"/>
          <p:nvPr>
            <p:ph type="title"/>
          </p:nvPr>
        </p:nvSpPr>
        <p:spPr>
          <a:xfrm>
            <a:off x="628650" y="365126"/>
            <a:ext cx="7886700" cy="1325563"/>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8" name="Google Shape;68;p11"/>
          <p:cNvSpPr txBox="1"/>
          <p:nvPr>
            <p:ph idx="1" type="body"/>
          </p:nvPr>
        </p:nvSpPr>
        <p:spPr>
          <a:xfrm rot="5400000">
            <a:off x="2396331" y="57944"/>
            <a:ext cx="4351338" cy="788670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1"/>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1" name="Google Shape;71;p11"/>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2"/>
          <p:cNvSpPr txBox="1"/>
          <p:nvPr>
            <p:ph type="title"/>
          </p:nvPr>
        </p:nvSpPr>
        <p:spPr>
          <a:xfrm rot="5400000">
            <a:off x="4623593" y="2285206"/>
            <a:ext cx="5811838" cy="1971675"/>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12"/>
          <p:cNvSpPr txBox="1"/>
          <p:nvPr>
            <p:ph idx="1" type="body"/>
          </p:nvPr>
        </p:nvSpPr>
        <p:spPr>
          <a:xfrm rot="5400000">
            <a:off x="623093" y="370681"/>
            <a:ext cx="5811838" cy="5800725"/>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0" type="dt"/>
          </p:nvPr>
        </p:nvSpPr>
        <p:spPr>
          <a:xfrm>
            <a:off x="628650" y="6356351"/>
            <a:ext cx="20574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2"/>
          <p:cNvSpPr txBox="1"/>
          <p:nvPr>
            <p:ph idx="11" type="ftr"/>
          </p:nvPr>
        </p:nvSpPr>
        <p:spPr>
          <a:xfrm>
            <a:off x="3028950" y="6356351"/>
            <a:ext cx="3086100" cy="365125"/>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2"/>
          <p:cNvSpPr txBox="1"/>
          <p:nvPr>
            <p:ph idx="12" type="sldNum"/>
          </p:nvPr>
        </p:nvSpPr>
        <p:spPr>
          <a:xfrm>
            <a:off x="6457950" y="6356351"/>
            <a:ext cx="20574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413900" y="14500"/>
            <a:ext cx="7692300" cy="863400"/>
          </a:xfrm>
          <a:prstGeom prst="round2DiagRect">
            <a:avLst>
              <a:gd fmla="val 3253" name="adj1"/>
              <a:gd fmla="val 45459" name="adj2"/>
            </a:avLst>
          </a:prstGeom>
          <a:solidFill>
            <a:srgbClr val="073763"/>
          </a:solidFill>
          <a:ln cap="flat" cmpd="sng" w="12700">
            <a:solidFill>
              <a:srgbClr val="D8D8D8"/>
            </a:solidFill>
            <a:prstDash val="solid"/>
            <a:miter lim="800000"/>
            <a:headEnd len="sm" w="sm" type="none"/>
            <a:tailEnd len="sm" w="sm" type="none"/>
          </a:ln>
          <a:effectLst>
            <a:outerShdw blurRad="44450" algn="ctr" dir="5400000" dist="27940">
              <a:srgbClr val="000000">
                <a:alpha val="2941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FFFFFF"/>
                </a:solidFill>
                <a:latin typeface="Calibri"/>
                <a:ea typeface="Calibri"/>
                <a:cs typeface="Calibri"/>
                <a:sym typeface="Calibri"/>
              </a:rPr>
              <a:t>KS5 Computer Science</a:t>
            </a:r>
            <a:endParaRPr b="0" i="0" sz="3600" u="none" cap="none" strike="noStrike">
              <a:solidFill>
                <a:srgbClr val="FFFFFF"/>
              </a:solidFill>
              <a:latin typeface="Calibri"/>
              <a:ea typeface="Calibri"/>
              <a:cs typeface="Calibri"/>
              <a:sym typeface="Calibri"/>
            </a:endParaRPr>
          </a:p>
        </p:txBody>
      </p:sp>
      <p:sp>
        <p:nvSpPr>
          <p:cNvPr id="7" name="Google Shape;7;p1"/>
          <p:cNvSpPr txBox="1"/>
          <p:nvPr/>
        </p:nvSpPr>
        <p:spPr>
          <a:xfrm>
            <a:off x="3070200" y="1475313"/>
            <a:ext cx="8784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lt1"/>
                </a:solidFill>
                <a:latin typeface="Calibri"/>
                <a:ea typeface="Calibri"/>
                <a:cs typeface="Calibri"/>
                <a:sym typeface="Calibri"/>
              </a:rPr>
              <a:t>CS</a:t>
            </a:r>
            <a:endParaRPr b="0" i="0" sz="1400" u="none" cap="none" strike="noStrike">
              <a:solidFill>
                <a:srgbClr val="000000"/>
              </a:solidFill>
              <a:latin typeface="Arial"/>
              <a:ea typeface="Arial"/>
              <a:cs typeface="Arial"/>
              <a:sym typeface="Arial"/>
            </a:endParaRPr>
          </a:p>
        </p:txBody>
      </p:sp>
      <p:pic>
        <p:nvPicPr>
          <p:cNvPr id="8" name="Google Shape;8;p1"/>
          <p:cNvPicPr preferRelativeResize="0"/>
          <p:nvPr/>
        </p:nvPicPr>
        <p:blipFill rotWithShape="1">
          <a:blip r:embed="rId1">
            <a:alphaModFix/>
          </a:blip>
          <a:srcRect b="0" l="0" r="0" t="0"/>
          <a:stretch/>
        </p:blipFill>
        <p:spPr>
          <a:xfrm>
            <a:off x="28100" y="-12"/>
            <a:ext cx="1333500" cy="15335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3"/>
          <p:cNvSpPr txBox="1"/>
          <p:nvPr/>
        </p:nvSpPr>
        <p:spPr>
          <a:xfrm>
            <a:off x="1219200" y="990600"/>
            <a:ext cx="7924800" cy="754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800"/>
              </a:spcBef>
              <a:spcAft>
                <a:spcPts val="400"/>
              </a:spcAft>
              <a:buClr>
                <a:srgbClr val="000000"/>
              </a:buClr>
              <a:buSzPts val="3700"/>
              <a:buFont typeface="Arial"/>
              <a:buNone/>
            </a:pPr>
            <a:r>
              <a:rPr b="1" i="0" lang="en-US" sz="3700" u="none" cap="none" strike="noStrike">
                <a:solidFill>
                  <a:srgbClr val="A61C00"/>
                </a:solidFill>
                <a:latin typeface="Roboto Serif"/>
                <a:ea typeface="Roboto Serif"/>
                <a:cs typeface="Roboto Serif"/>
                <a:sym typeface="Roboto Serif"/>
              </a:rPr>
              <a:t> </a:t>
            </a:r>
            <a:r>
              <a:rPr b="1" lang="en-US" sz="3700">
                <a:solidFill>
                  <a:srgbClr val="A61C00"/>
                </a:solidFill>
                <a:latin typeface="Roboto Serif"/>
                <a:ea typeface="Roboto Serif"/>
                <a:cs typeface="Roboto Serif"/>
                <a:sym typeface="Roboto Serif"/>
              </a:rPr>
              <a:t>Design Phase</a:t>
            </a:r>
            <a:endParaRPr b="0" i="0" sz="3700" u="none" cap="none" strike="noStrike">
              <a:solidFill>
                <a:srgbClr val="A61C00"/>
              </a:solidFill>
              <a:latin typeface="Roboto Serif"/>
              <a:ea typeface="Roboto Serif"/>
              <a:cs typeface="Roboto Serif"/>
              <a:sym typeface="Roboto Serif"/>
            </a:endParaRPr>
          </a:p>
        </p:txBody>
      </p:sp>
      <p:pic>
        <p:nvPicPr>
          <p:cNvPr id="83" name="Google Shape;83;p13"/>
          <p:cNvPicPr preferRelativeResize="0"/>
          <p:nvPr/>
        </p:nvPicPr>
        <p:blipFill>
          <a:blip r:embed="rId3">
            <a:alphaModFix/>
          </a:blip>
          <a:stretch>
            <a:fillRect/>
          </a:stretch>
        </p:blipFill>
        <p:spPr>
          <a:xfrm>
            <a:off x="307942" y="1897200"/>
            <a:ext cx="8839198" cy="4554460"/>
          </a:xfrm>
          <a:prstGeom prst="rect">
            <a:avLst/>
          </a:prstGeom>
          <a:noFill/>
          <a:ln>
            <a:noFill/>
          </a:ln>
        </p:spPr>
      </p:pic>
      <p:sp>
        <p:nvSpPr>
          <p:cNvPr id="84" name="Google Shape;84;p13"/>
          <p:cNvSpPr/>
          <p:nvPr/>
        </p:nvSpPr>
        <p:spPr>
          <a:xfrm>
            <a:off x="6323200" y="3680700"/>
            <a:ext cx="2715900" cy="6291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3"/>
          <p:cNvSpPr/>
          <p:nvPr/>
        </p:nvSpPr>
        <p:spPr>
          <a:xfrm>
            <a:off x="6323200" y="5238201"/>
            <a:ext cx="2715900" cy="31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nvSpPr>
        <p:spPr>
          <a:xfrm>
            <a:off x="1082125" y="2000586"/>
            <a:ext cx="79248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t/>
            </a:r>
            <a:endParaRPr b="1" i="0" sz="3900" u="none" cap="none" strike="noStrike">
              <a:solidFill>
                <a:schemeClr val="dk1"/>
              </a:solidFill>
              <a:latin typeface="Century Gothic"/>
              <a:ea typeface="Century Gothic"/>
              <a:cs typeface="Century Gothic"/>
              <a:sym typeface="Century Gothic"/>
            </a:endParaRPr>
          </a:p>
        </p:txBody>
      </p:sp>
      <p:sp>
        <p:nvSpPr>
          <p:cNvPr id="91" name="Google Shape;91;p14"/>
          <p:cNvSpPr txBox="1"/>
          <p:nvPr/>
        </p:nvSpPr>
        <p:spPr>
          <a:xfrm>
            <a:off x="1219200" y="990600"/>
            <a:ext cx="79248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800"/>
              </a:spcBef>
              <a:spcAft>
                <a:spcPts val="400"/>
              </a:spcAft>
              <a:buClr>
                <a:srgbClr val="000000"/>
              </a:buClr>
              <a:buSzPts val="4000"/>
              <a:buFont typeface="Arial"/>
              <a:buNone/>
            </a:pPr>
            <a:r>
              <a:rPr b="1" i="0" lang="en-US" sz="4000" u="none" cap="none" strike="noStrike">
                <a:solidFill>
                  <a:srgbClr val="A61C00"/>
                </a:solidFill>
                <a:latin typeface="Roboto Serif"/>
                <a:ea typeface="Roboto Serif"/>
                <a:cs typeface="Roboto Serif"/>
                <a:sym typeface="Roboto Serif"/>
              </a:rPr>
              <a:t> </a:t>
            </a:r>
            <a:r>
              <a:rPr b="1" lang="en-US" sz="4000">
                <a:solidFill>
                  <a:srgbClr val="A61C00"/>
                </a:solidFill>
                <a:latin typeface="Roboto Serif"/>
                <a:ea typeface="Roboto Serif"/>
                <a:cs typeface="Roboto Serif"/>
                <a:sym typeface="Roboto Serif"/>
              </a:rPr>
              <a:t>Decomposition</a:t>
            </a:r>
            <a:endParaRPr b="0" i="0" sz="4000" u="none" cap="none" strike="noStrike">
              <a:solidFill>
                <a:srgbClr val="A61C00"/>
              </a:solidFill>
              <a:latin typeface="Roboto Serif"/>
              <a:ea typeface="Roboto Serif"/>
              <a:cs typeface="Roboto Serif"/>
              <a:sym typeface="Roboto Serif"/>
            </a:endParaRPr>
          </a:p>
        </p:txBody>
      </p:sp>
      <p:sp>
        <p:nvSpPr>
          <p:cNvPr id="92" name="Google Shape;92;p14"/>
          <p:cNvSpPr txBox="1"/>
          <p:nvPr/>
        </p:nvSpPr>
        <p:spPr>
          <a:xfrm>
            <a:off x="466625" y="1869775"/>
            <a:ext cx="837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latin typeface="Calibri"/>
                <a:ea typeface="Calibri"/>
                <a:cs typeface="Calibri"/>
                <a:sym typeface="Calibri"/>
              </a:rPr>
              <a:t>c) Describe the solution fully using appropriate and accurate algorithms justifying how these algorithms form a complete solution to the problem</a:t>
            </a:r>
            <a:endParaRPr b="1" sz="1900">
              <a:latin typeface="Calibri"/>
              <a:ea typeface="Calibri"/>
              <a:cs typeface="Calibri"/>
              <a:sym typeface="Calibri"/>
            </a:endParaRPr>
          </a:p>
        </p:txBody>
      </p:sp>
      <p:sp>
        <p:nvSpPr>
          <p:cNvPr id="93" name="Google Shape;93;p14"/>
          <p:cNvSpPr txBox="1"/>
          <p:nvPr/>
        </p:nvSpPr>
        <p:spPr>
          <a:xfrm>
            <a:off x="827325" y="3169825"/>
            <a:ext cx="73665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a:solidFill>
                  <a:schemeClr val="dk1"/>
                </a:solidFill>
                <a:latin typeface="Calibri"/>
                <a:ea typeface="Calibri"/>
                <a:cs typeface="Calibri"/>
                <a:sym typeface="Calibri"/>
              </a:rPr>
              <a:t>Algorithms for all major functions</a:t>
            </a:r>
            <a:endParaRPr b="1">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a:solidFill>
                  <a:schemeClr val="dk1"/>
                </a:solidFill>
                <a:latin typeface="Calibri"/>
                <a:ea typeface="Calibri"/>
                <a:cs typeface="Calibri"/>
                <a:sym typeface="Calibri"/>
              </a:rPr>
              <a:t>Write detailed pseudocode (or flowcharts) for every key modules.</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a:solidFill>
                  <a:schemeClr val="dk1"/>
                </a:solidFill>
                <a:latin typeface="Calibri"/>
                <a:ea typeface="Calibri"/>
                <a:cs typeface="Calibri"/>
                <a:sym typeface="Calibri"/>
              </a:rPr>
              <a:t>Examples:</a:t>
            </a:r>
            <a:endParaRPr>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Font typeface="Calibri"/>
              <a:buChar char="●"/>
            </a:pPr>
            <a:r>
              <a:rPr lang="en-US">
                <a:solidFill>
                  <a:schemeClr val="dk1"/>
                </a:solidFill>
                <a:latin typeface="Calibri"/>
                <a:ea typeface="Calibri"/>
                <a:cs typeface="Calibri"/>
                <a:sym typeface="Calibri"/>
              </a:rPr>
              <a:t>Account login</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Searching records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Adding/editing/deleting data</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Calculating results</a:t>
            </a: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Font typeface="Calibri"/>
              <a:buChar char="●"/>
            </a:pPr>
            <a:r>
              <a:rPr lang="en-US">
                <a:solidFill>
                  <a:schemeClr val="dk1"/>
                </a:solidFill>
                <a:latin typeface="Calibri"/>
                <a:ea typeface="Calibri"/>
                <a:cs typeface="Calibri"/>
                <a:sym typeface="Calibri"/>
              </a:rPr>
              <a:t>Generating reports</a:t>
            </a:r>
            <a:endParaRPr>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US">
                <a:solidFill>
                  <a:schemeClr val="dk1"/>
                </a:solidFill>
                <a:latin typeface="Calibri"/>
                <a:ea typeface="Calibri"/>
                <a:cs typeface="Calibri"/>
                <a:sym typeface="Calibri"/>
              </a:rPr>
              <a:t>The algorithms should be detailed enough that someone could code directly from them.</a:t>
            </a:r>
            <a:endParaRPr>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nvSpPr>
        <p:spPr>
          <a:xfrm>
            <a:off x="1219200" y="917196"/>
            <a:ext cx="79248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4000"/>
              <a:buFont typeface="Arial"/>
              <a:buNone/>
            </a:pPr>
            <a:r>
              <a:rPr b="1" lang="en-US" sz="4000">
                <a:solidFill>
                  <a:srgbClr val="A61C00"/>
                </a:solidFill>
                <a:latin typeface="Roboto Serif"/>
                <a:ea typeface="Roboto Serif"/>
                <a:cs typeface="Roboto Serif"/>
                <a:sym typeface="Roboto Serif"/>
              </a:rPr>
              <a:t>Algorithm</a:t>
            </a:r>
            <a:endParaRPr b="0" i="0" sz="3300" u="none" cap="none" strike="noStrike">
              <a:solidFill>
                <a:srgbClr val="A61C00"/>
              </a:solidFill>
              <a:latin typeface="Roboto Serif"/>
              <a:ea typeface="Roboto Serif"/>
              <a:cs typeface="Roboto Serif"/>
              <a:sym typeface="Roboto Serif"/>
            </a:endParaRPr>
          </a:p>
        </p:txBody>
      </p:sp>
      <p:graphicFrame>
        <p:nvGraphicFramePr>
          <p:cNvPr id="99" name="Google Shape;99;p15"/>
          <p:cNvGraphicFramePr/>
          <p:nvPr/>
        </p:nvGraphicFramePr>
        <p:xfrm>
          <a:off x="882725" y="3292053"/>
          <a:ext cx="3000000" cy="3000000"/>
        </p:xfrm>
        <a:graphic>
          <a:graphicData uri="http://schemas.openxmlformats.org/drawingml/2006/table">
            <a:tbl>
              <a:tblPr>
                <a:noFill/>
                <a:tableStyleId>{4ECF3430-EBC7-4088-8BE4-12CE2D3A33C6}</a:tableStyleId>
              </a:tblPr>
              <a:tblGrid>
                <a:gridCol w="3066275"/>
                <a:gridCol w="4740925"/>
              </a:tblGrid>
              <a:tr h="381000">
                <a:tc>
                  <a:txBody>
                    <a:bodyPr/>
                    <a:lstStyle/>
                    <a:p>
                      <a:pPr indent="0" lvl="0" marL="0" rtl="0" algn="l">
                        <a:spcBef>
                          <a:spcPts val="0"/>
                        </a:spcBef>
                        <a:spcAft>
                          <a:spcPts val="0"/>
                        </a:spcAft>
                        <a:buNone/>
                      </a:pPr>
                      <a:r>
                        <a:rPr lang="en-US"/>
                        <a:t>Flowchart</a:t>
                      </a:r>
                      <a:endParaRPr/>
                    </a:p>
                  </a:txBody>
                  <a:tcPr marT="91425" marB="91425" marR="91425" marL="91425"/>
                </a:tc>
                <a:tc>
                  <a:txBody>
                    <a:bodyPr/>
                    <a:lstStyle/>
                    <a:p>
                      <a:pPr indent="0" lvl="0" marL="0" rtl="0" algn="l">
                        <a:spcBef>
                          <a:spcPts val="0"/>
                        </a:spcBef>
                        <a:spcAft>
                          <a:spcPts val="0"/>
                        </a:spcAft>
                        <a:buNone/>
                      </a:pPr>
                      <a:r>
                        <a:rPr lang="en-US"/>
                        <a:t>Pseudocode</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INPUT username, password</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IF username and password match database THEN</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     Grant Access</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ELSE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US" sz="1200">
                          <a:latin typeface="Courier New"/>
                          <a:ea typeface="Courier New"/>
                          <a:cs typeface="Courier New"/>
                          <a:sym typeface="Courier New"/>
                        </a:rPr>
                        <a:t>     Display error message</a:t>
                      </a:r>
                      <a:endParaRPr sz="1200">
                        <a:latin typeface="Courier New"/>
                        <a:ea typeface="Courier New"/>
                        <a:cs typeface="Courier New"/>
                        <a:sym typeface="Courier New"/>
                      </a:endParaRPr>
                    </a:p>
                    <a:p>
                      <a:pPr indent="0" lvl="0" marL="0" rtl="0" algn="l">
                        <a:spcBef>
                          <a:spcPts val="0"/>
                        </a:spcBef>
                        <a:spcAft>
                          <a:spcPts val="0"/>
                        </a:spcAft>
                        <a:buNone/>
                      </a:pPr>
                      <a:r>
                        <a:rPr lang="en-US" sz="1200">
                          <a:latin typeface="Courier New"/>
                          <a:ea typeface="Courier New"/>
                          <a:cs typeface="Courier New"/>
                          <a:sym typeface="Courier New"/>
                        </a:rPr>
                        <a:t>ENDIF </a:t>
                      </a:r>
                      <a:endParaRPr sz="1200">
                        <a:latin typeface="Courier New"/>
                        <a:ea typeface="Courier New"/>
                        <a:cs typeface="Courier New"/>
                        <a:sym typeface="Courier New"/>
                      </a:endParaRPr>
                    </a:p>
                  </a:txBody>
                  <a:tcPr marT="91425" marB="91425" marR="91425" marL="91425"/>
                </a:tc>
              </a:tr>
              <a:tr h="381000">
                <a:tc gridSpan="2">
                  <a:txBody>
                    <a:bodyPr/>
                    <a:lstStyle/>
                    <a:p>
                      <a:pPr indent="0" lvl="0" marL="0" rtl="0" algn="l">
                        <a:spcBef>
                          <a:spcPts val="0"/>
                        </a:spcBef>
                        <a:spcAft>
                          <a:spcPts val="0"/>
                        </a:spcAft>
                        <a:buNone/>
                      </a:pPr>
                      <a:r>
                        <a:rPr b="1" lang="en-US"/>
                        <a:t>Justify:</a:t>
                      </a:r>
                      <a:r>
                        <a:rPr lang="en-US"/>
                        <a:t> </a:t>
                      </a:r>
                      <a:r>
                        <a:rPr i="1" lang="en-US">
                          <a:latin typeface="Calibri"/>
                          <a:ea typeface="Calibri"/>
                          <a:cs typeface="Calibri"/>
                          <a:sym typeface="Calibri"/>
                        </a:rPr>
                        <a:t>This algorithm ensures only authorised users can access the system, meeting the security requirements identified in the analysis. </a:t>
                      </a:r>
                      <a:endParaRPr i="1">
                        <a:latin typeface="Calibri"/>
                        <a:ea typeface="Calibri"/>
                        <a:cs typeface="Calibri"/>
                        <a:sym typeface="Calibri"/>
                      </a:endParaRPr>
                    </a:p>
                    <a:p>
                      <a:pPr indent="0" lvl="0" marL="0" rtl="0" algn="l">
                        <a:spcBef>
                          <a:spcPts val="0"/>
                        </a:spcBef>
                        <a:spcAft>
                          <a:spcPts val="0"/>
                        </a:spcAft>
                        <a:buNone/>
                      </a:pPr>
                      <a:r>
                        <a:rPr b="1" i="1" lang="en-US">
                          <a:latin typeface="Calibri"/>
                          <a:ea typeface="Calibri"/>
                          <a:cs typeface="Calibri"/>
                          <a:sym typeface="Calibri"/>
                        </a:rPr>
                        <a:t>Explain how algorithms connect together :</a:t>
                      </a:r>
                      <a:r>
                        <a:rPr i="1" lang="en-US">
                          <a:latin typeface="Calibri"/>
                          <a:ea typeface="Calibri"/>
                          <a:cs typeface="Calibri"/>
                          <a:sym typeface="Calibri"/>
                        </a:rPr>
                        <a:t>The login algorithm authenticates the user before access is granted to the system. Once logged in, the booking algorithm allows users to create, edit and delete bookings, updating the database accordingly. </a:t>
                      </a:r>
                      <a:endParaRPr i="1">
                        <a:latin typeface="Calibri"/>
                        <a:ea typeface="Calibri"/>
                        <a:cs typeface="Calibri"/>
                        <a:sym typeface="Calibri"/>
                      </a:endParaRPr>
                    </a:p>
                  </a:txBody>
                  <a:tcPr marT="91425" marB="91425" marR="91425" marL="91425"/>
                </a:tc>
                <a:tc hMerge="1"/>
              </a:tr>
            </a:tbl>
          </a:graphicData>
        </a:graphic>
      </p:graphicFrame>
      <p:sp>
        <p:nvSpPr>
          <p:cNvPr id="100" name="Google Shape;100;p15"/>
          <p:cNvSpPr txBox="1"/>
          <p:nvPr/>
        </p:nvSpPr>
        <p:spPr>
          <a:xfrm>
            <a:off x="882725" y="2768828"/>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Example: </a:t>
            </a:r>
            <a:r>
              <a:rPr b="1" lang="en-US">
                <a:solidFill>
                  <a:schemeClr val="dk1"/>
                </a:solidFill>
              </a:rPr>
              <a:t>Account Login</a:t>
            </a:r>
            <a:endParaRPr b="1"/>
          </a:p>
        </p:txBody>
      </p:sp>
      <p:sp>
        <p:nvSpPr>
          <p:cNvPr id="101" name="Google Shape;101;p15"/>
          <p:cNvSpPr/>
          <p:nvPr/>
        </p:nvSpPr>
        <p:spPr>
          <a:xfrm>
            <a:off x="1096475" y="3811044"/>
            <a:ext cx="1863900" cy="1893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t>Input Username</a:t>
            </a:r>
            <a:endParaRPr sz="1000"/>
          </a:p>
        </p:txBody>
      </p:sp>
      <p:sp>
        <p:nvSpPr>
          <p:cNvPr id="102" name="Google Shape;102;p15"/>
          <p:cNvSpPr/>
          <p:nvPr/>
        </p:nvSpPr>
        <p:spPr>
          <a:xfrm>
            <a:off x="1335700" y="4109144"/>
            <a:ext cx="1495200" cy="55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t>Username = dbase name</a:t>
            </a:r>
            <a:endParaRPr sz="900"/>
          </a:p>
        </p:txBody>
      </p:sp>
      <p:sp>
        <p:nvSpPr>
          <p:cNvPr id="103" name="Google Shape;103;p15"/>
          <p:cNvSpPr/>
          <p:nvPr/>
        </p:nvSpPr>
        <p:spPr>
          <a:xfrm>
            <a:off x="1327175" y="4840619"/>
            <a:ext cx="1402500" cy="1893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t>Error</a:t>
            </a:r>
            <a:endParaRPr sz="1000"/>
          </a:p>
        </p:txBody>
      </p:sp>
      <p:sp>
        <p:nvSpPr>
          <p:cNvPr id="104" name="Google Shape;104;p15"/>
          <p:cNvSpPr/>
          <p:nvPr/>
        </p:nvSpPr>
        <p:spPr>
          <a:xfrm>
            <a:off x="2885075" y="4293644"/>
            <a:ext cx="1063800" cy="1893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t>Grant Access</a:t>
            </a:r>
            <a:endParaRPr sz="800"/>
          </a:p>
        </p:txBody>
      </p:sp>
      <p:cxnSp>
        <p:nvCxnSpPr>
          <p:cNvPr id="105" name="Google Shape;105;p15"/>
          <p:cNvCxnSpPr/>
          <p:nvPr/>
        </p:nvCxnSpPr>
        <p:spPr>
          <a:xfrm>
            <a:off x="2083300" y="4633947"/>
            <a:ext cx="0" cy="279000"/>
          </a:xfrm>
          <a:prstGeom prst="straightConnector1">
            <a:avLst/>
          </a:prstGeom>
          <a:noFill/>
          <a:ln cap="flat" cmpd="sng" w="9525">
            <a:solidFill>
              <a:schemeClr val="dk2"/>
            </a:solidFill>
            <a:prstDash val="solid"/>
            <a:round/>
            <a:headEnd len="med" w="med" type="none"/>
            <a:tailEnd len="med" w="med" type="triangle"/>
          </a:ln>
        </p:spPr>
      </p:cxnSp>
      <p:cxnSp>
        <p:nvCxnSpPr>
          <p:cNvPr id="106" name="Google Shape;106;p15"/>
          <p:cNvCxnSpPr/>
          <p:nvPr/>
        </p:nvCxnSpPr>
        <p:spPr>
          <a:xfrm>
            <a:off x="2083300" y="3939047"/>
            <a:ext cx="0" cy="279000"/>
          </a:xfrm>
          <a:prstGeom prst="straightConnector1">
            <a:avLst/>
          </a:prstGeom>
          <a:noFill/>
          <a:ln cap="flat" cmpd="sng" w="9525">
            <a:solidFill>
              <a:schemeClr val="dk2"/>
            </a:solidFill>
            <a:prstDash val="solid"/>
            <a:round/>
            <a:headEnd len="med" w="med" type="none"/>
            <a:tailEnd len="med" w="med" type="triangle"/>
          </a:ln>
        </p:spPr>
      </p:cxnSp>
      <p:cxnSp>
        <p:nvCxnSpPr>
          <p:cNvPr id="107" name="Google Shape;107;p15"/>
          <p:cNvCxnSpPr/>
          <p:nvPr/>
        </p:nvCxnSpPr>
        <p:spPr>
          <a:xfrm flipH="1" rot="10800000">
            <a:off x="2729638" y="4368358"/>
            <a:ext cx="179100" cy="32700"/>
          </a:xfrm>
          <a:prstGeom prst="straightConnector1">
            <a:avLst/>
          </a:prstGeom>
          <a:noFill/>
          <a:ln cap="flat" cmpd="sng" w="9525">
            <a:solidFill>
              <a:schemeClr val="dk2"/>
            </a:solidFill>
            <a:prstDash val="solid"/>
            <a:round/>
            <a:headEnd len="med" w="med" type="none"/>
            <a:tailEnd len="med" w="med" type="triangle"/>
          </a:ln>
        </p:spPr>
      </p:cxnSp>
      <p:sp>
        <p:nvSpPr>
          <p:cNvPr id="108" name="Google Shape;108;p15"/>
          <p:cNvSpPr txBox="1"/>
          <p:nvPr/>
        </p:nvSpPr>
        <p:spPr>
          <a:xfrm>
            <a:off x="882725" y="1827575"/>
            <a:ext cx="7862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latin typeface="Calibri"/>
                <a:ea typeface="Calibri"/>
                <a:cs typeface="Calibri"/>
                <a:sym typeface="Calibri"/>
              </a:rPr>
              <a:t>f) </a:t>
            </a:r>
            <a:r>
              <a:rPr b="1" lang="en-US" sz="1900">
                <a:latin typeface="Calibri"/>
                <a:ea typeface="Calibri"/>
                <a:cs typeface="Calibri"/>
                <a:sym typeface="Calibri"/>
              </a:rPr>
              <a:t>Identified and justified the test data to be used during the iterative development of the solution.</a:t>
            </a:r>
            <a:endParaRPr b="1" sz="19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nvSpPr>
        <p:spPr>
          <a:xfrm>
            <a:off x="1219200" y="917196"/>
            <a:ext cx="7924800" cy="80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400"/>
              </a:spcAft>
              <a:buClr>
                <a:schemeClr val="dk1"/>
              </a:buClr>
              <a:buSzPts val="4000"/>
              <a:buFont typeface="Arial"/>
              <a:buNone/>
            </a:pPr>
            <a:r>
              <a:rPr b="1" lang="en-US" sz="4000">
                <a:solidFill>
                  <a:srgbClr val="A61C00"/>
                </a:solidFill>
                <a:latin typeface="Roboto Serif"/>
                <a:ea typeface="Roboto Serif"/>
                <a:cs typeface="Roboto Serif"/>
                <a:sym typeface="Roboto Serif"/>
              </a:rPr>
              <a:t>Iterative Testing</a:t>
            </a:r>
            <a:endParaRPr b="0" i="0" sz="3300" u="none" cap="none" strike="noStrike">
              <a:solidFill>
                <a:srgbClr val="A61C00"/>
              </a:solidFill>
              <a:latin typeface="Roboto Serif"/>
              <a:ea typeface="Roboto Serif"/>
              <a:cs typeface="Roboto Serif"/>
              <a:sym typeface="Roboto Serif"/>
            </a:endParaRPr>
          </a:p>
        </p:txBody>
      </p:sp>
      <p:sp>
        <p:nvSpPr>
          <p:cNvPr id="114" name="Google Shape;114;p16"/>
          <p:cNvSpPr txBox="1"/>
          <p:nvPr/>
        </p:nvSpPr>
        <p:spPr>
          <a:xfrm>
            <a:off x="316475" y="1717600"/>
            <a:ext cx="4695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Example</a:t>
            </a:r>
            <a:endParaRPr b="1">
              <a:solidFill>
                <a:schemeClr val="dk1"/>
              </a:solidFill>
            </a:endParaRPr>
          </a:p>
          <a:p>
            <a:pPr indent="0" lvl="0" marL="0" rtl="0" algn="l">
              <a:spcBef>
                <a:spcPts val="0"/>
              </a:spcBef>
              <a:spcAft>
                <a:spcPts val="0"/>
              </a:spcAft>
              <a:buNone/>
            </a:pPr>
            <a:r>
              <a:rPr b="1" lang="en-US">
                <a:solidFill>
                  <a:schemeClr val="dk1"/>
                </a:solidFill>
              </a:rPr>
              <a:t>ITERATIVE TESTING - Account Login</a:t>
            </a:r>
            <a:endParaRPr b="1">
              <a:solidFill>
                <a:schemeClr val="dk1"/>
              </a:solidFill>
            </a:endParaRPr>
          </a:p>
        </p:txBody>
      </p:sp>
      <p:graphicFrame>
        <p:nvGraphicFramePr>
          <p:cNvPr id="115" name="Google Shape;115;p16"/>
          <p:cNvGraphicFramePr/>
          <p:nvPr/>
        </p:nvGraphicFramePr>
        <p:xfrm>
          <a:off x="228600" y="2448900"/>
          <a:ext cx="3000000" cy="3000000"/>
        </p:xfrm>
        <a:graphic>
          <a:graphicData uri="http://schemas.openxmlformats.org/drawingml/2006/table">
            <a:tbl>
              <a:tblPr>
                <a:noFill/>
                <a:tableStyleId>{D6C158C0-A0F9-4FD2-BC30-6FDFF8C278A7}</a:tableStyleId>
              </a:tblPr>
              <a:tblGrid>
                <a:gridCol w="1213375"/>
                <a:gridCol w="1934175"/>
                <a:gridCol w="1417600"/>
                <a:gridCol w="2258550"/>
                <a:gridCol w="1177325"/>
                <a:gridCol w="756850"/>
              </a:tblGrid>
              <a:tr h="361950">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Module</a:t>
                      </a:r>
                      <a:endParaRPr b="1" sz="12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Test Case</a:t>
                      </a:r>
                      <a:endParaRPr b="1" sz="12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Test Data</a:t>
                      </a:r>
                      <a:endParaRPr b="1" sz="12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Expected Outcome</a:t>
                      </a:r>
                      <a:endParaRPr b="1" sz="12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Actual Outcome</a:t>
                      </a:r>
                      <a:endParaRPr b="1" sz="12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Calibri"/>
                          <a:ea typeface="Calibri"/>
                          <a:cs typeface="Calibri"/>
                          <a:sym typeface="Calibri"/>
                        </a:rPr>
                        <a:t>Pass/Fail</a:t>
                      </a:r>
                      <a:endParaRPr b="1" sz="12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sz="1500">
                          <a:latin typeface="Calibri"/>
                          <a:ea typeface="Calibri"/>
                          <a:cs typeface="Calibri"/>
                          <a:sym typeface="Calibri"/>
                        </a:rPr>
                        <a:t>Username Input</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Valid username</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188038"/>
                          </a:solidFill>
                          <a:latin typeface="Calibri"/>
                          <a:ea typeface="Calibri"/>
                          <a:cs typeface="Calibri"/>
                          <a:sym typeface="Calibri"/>
                        </a:rPr>
                        <a:t>John123</a:t>
                      </a:r>
                      <a:endParaRPr sz="1200">
                        <a:solidFill>
                          <a:srgbClr val="188038"/>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Username accepted and program continues</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Username accepted</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Pass</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sz="1500">
                          <a:latin typeface="Calibri"/>
                          <a:ea typeface="Calibri"/>
                          <a:cs typeface="Calibri"/>
                          <a:sym typeface="Calibri"/>
                        </a:rPr>
                        <a:t>Username Input</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Blank username</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188038"/>
                          </a:solidFill>
                          <a:latin typeface="Calibri"/>
                          <a:ea typeface="Calibri"/>
                          <a:cs typeface="Calibri"/>
                          <a:sym typeface="Calibri"/>
                        </a:rPr>
                        <a:t>""</a:t>
                      </a:r>
                      <a:endParaRPr sz="1200">
                        <a:solidFill>
                          <a:srgbClr val="188038"/>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Error message displayed requesting username</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Error displayed</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Pass</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sz="1500">
                          <a:latin typeface="Calibri"/>
                          <a:ea typeface="Calibri"/>
                          <a:cs typeface="Calibri"/>
                          <a:sym typeface="Calibri"/>
                        </a:rPr>
                        <a:t>Username Input</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Invalid username format</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188038"/>
                          </a:solidFill>
                          <a:latin typeface="Calibri"/>
                          <a:ea typeface="Calibri"/>
                          <a:cs typeface="Calibri"/>
                          <a:sym typeface="Calibri"/>
                        </a:rPr>
                        <a:t>John@123</a:t>
                      </a:r>
                      <a:endParaRPr sz="1200">
                        <a:solidFill>
                          <a:srgbClr val="188038"/>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Error message displayed</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Error displayed</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Pass</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sz="1500">
                          <a:latin typeface="Calibri"/>
                          <a:ea typeface="Calibri"/>
                          <a:cs typeface="Calibri"/>
                          <a:sym typeface="Calibri"/>
                        </a:rPr>
                        <a:t>Database Validation </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SQL injection attempt (failed data test) </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rgbClr val="188038"/>
                          </a:solidFill>
                          <a:latin typeface="Calibri"/>
                          <a:ea typeface="Calibri"/>
                          <a:cs typeface="Calibri"/>
                          <a:sym typeface="Calibri"/>
                        </a:rPr>
                        <a:t>' OR '1'='1 </a:t>
                      </a:r>
                      <a:endParaRPr sz="1200">
                        <a:solidFill>
                          <a:srgbClr val="188038"/>
                        </a:solidFill>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Access denied, but input not fully sanitised </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Access denied, but input not fully sanitised </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latin typeface="Calibri"/>
                          <a:ea typeface="Calibri"/>
                          <a:cs typeface="Calibri"/>
                          <a:sym typeface="Calibri"/>
                        </a:rPr>
                        <a:t>Fail</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